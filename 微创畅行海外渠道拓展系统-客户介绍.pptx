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开场：这是我们面向 SkyWalker TKA 手术机器人的海外拓客系统。它把'找代理商/KOL — 评估 — 发邮件 — 处理回复 — 跟进'整条链路用 AI 自动化，但关键动作（确认、发送）始终由人来把关。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先讲痛点，和客户共情：海外拓客最难的是'信息分散+人工低效+语言+合规'。这正是我们系统要解决的四件事。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这是全景图，后面每一步展开讲。强调'AI 跑流程，人管闸门'——效率和可控兼得。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发现环节最关键。三点差异化：一是服务端抓取绕过网络限制、质量高；二是 AI 判断真实公司名，不再是乱码标题；三是自动过滤名录/榜单和竞品。漏斗：从海量网页收敛到精准可触达线索。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两套规则分别对应代理商和 KOL。结果用'强/中/弱/拒绝'四档徽章表示，且和流程状态解耦——避免'评分即决定'。是否自动确认强匹配可配置，默认人工，稳妥。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邮件不是模板群发：AI 按审批模板生成，KOL 用金标准范例学风格（不抄事实），中英自适应，并有占位符防护杜绝把 [Name] 发出去。可一键附彩页。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这是本次新增的亮点。收到回复后 AI 自动分类意向并预先拟好回信草稿：有意向的带彩页暖回复，敏感话题的是保守占位、绝不乱承诺。但发送永远人工点。草稿后台异步生成，所以点同步很快。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线索有清晰的状态机：待确认→已确认→已邮件，收到回复后按意向分流到有兴趣/转人工/待复核/已拒绝。系统自动跑，人工在确认和发送处把关。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面向企业实际使用，不是 demo：合规（抑制+节流）、安全（审计+权限）、可控（私有化+人工把关）都内建。这几点客户尤其关心。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架构简洁可靠：Vue3 前端 + FastAPI + PostgreSQL，外接 Tavily、DeepSeek、Exchange。Docker 一键私有化部署，数据留在内网。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总结价值：提效、精准、合规、可控。特别强调最后一句——这是生产级系统，已经部署上线、面向真实业务，不是 demo。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收尾。留一句 slogan，并留联系方式占位供你填。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206240" cy="42062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3566160"/>
            <a:ext cx="3108960" cy="3108960"/>
          </a:xfrm>
          <a:prstGeom prst="ellipse">
            <a:avLst/>
          </a:prstGeom>
          <a:solidFill>
            <a:srgbClr val="12A594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MEDBOT · SKYWALKER TKA 手术机器人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海外渠道拓展系统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驱动的海外代理商 / KOL 智能拓客与触达平台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从线索发现、智能评分、个性化触达，到回复处理与自动回信 —— 全流程 AI 驱动，关键动作人工把关。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852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2A594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58338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微创畅行 MicroPort · 海外事业部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海外拓客的四大挑战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22585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信息高度分散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74520" y="278892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目标代理商与 KOL 散落于全球官网、行业名录、学术会议，难以系统化发现与核实。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40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52360" y="22585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人工效率低下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52360" y="278892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逐一检索、甄别、撰写邮件，如同大海捞针，难以规模化持续产出。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526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74520" y="45445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语言与本地化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74520" y="507492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多语种沟通与专业话术要求高，人工难以稳定输出高质量个性化内容。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5262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45445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合规与风控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52360" y="507492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退订、反垃圾、发送频率等海外邮件合规要求高，人工操作易疏漏。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 AI 拓客流程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2606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165860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搜索抓取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真实线索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06040" y="2788920"/>
            <a:ext cx="269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875788" y="228600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2606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75788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67228" y="4069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双规则智能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匹配度分级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1748" y="2788920"/>
            <a:ext cx="269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111496" y="228600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37276" y="2606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637276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11496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02936" y="4069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个性化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邮件外联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77456" y="2788920"/>
            <a:ext cx="269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47204" y="228600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E7F4F1"/>
          </a:solidFill>
          <a:ln w="12700">
            <a:solidFill>
              <a:srgbClr val="12A594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72984" y="2606040"/>
            <a:ext cx="914400" cy="91440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4" name="Text 22"/>
          <p:cNvSpPr/>
          <p:nvPr/>
        </p:nvSpPr>
        <p:spPr>
          <a:xfrm>
            <a:off x="7872984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47204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38644" y="4069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意向分析 +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自动回信草稿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13164" y="2788920"/>
            <a:ext cx="2697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582912" y="228600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08692" y="26060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10108692" y="2606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582912" y="3611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674352" y="40690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自动跟进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合规管控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 AI 驱动，关键动作（确认、发送）人工把关 —— 既高效，又可控。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智能线索发现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39112"/>
            <a:ext cx="201168" cy="20116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659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Tavily 高级搜索 + 服务端抓取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35000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内容在服务端提取，适配网络受限环境，抓取质量更高。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090672"/>
            <a:ext cx="201168" cy="20116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0175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多信号判定公司名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40156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综合标题、正文、域名、邮箱，还原真实、规范的机构名称。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142232"/>
            <a:ext cx="201168" cy="20116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0690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自动过滤噪声页面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445312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剔除目录 / 榜单 / 咨询公司等非真实线索页面。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5193792"/>
            <a:ext cx="201168" cy="20116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120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竞品硬排除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550468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自动识别并排除 Mako / ROSA / Cori 等竞品相关线索。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0" y="2148840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214884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海量公开网页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06640" y="3063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18120" y="3364992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E7F4F1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18120" y="3364992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去噪 · 过滤 · 竞品排除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6640" y="42793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4581144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0" y="4581144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精准可触达线索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双规则智能评分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代理商规则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覆盖能力、区域匹配、渠道资质、器械品类等维度综合打分。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KOL 规则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面向骨科医生 / 意见领袖：术式相关性、影响力、临床里程碑等。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匹配度分级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12A59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891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强匹配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40280" y="438912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240280" y="43891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中匹配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0" y="438912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9AA7B2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43891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弱匹配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40680" y="4389120"/>
            <a:ext cx="1417320" cy="54864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43891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建议拒绝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0" y="393192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E7F4F1"/>
          </a:solidFill>
          <a:ln w="12700">
            <a:solidFill>
              <a:srgbClr val="12A594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3524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匹配度与管线状态解耦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35240" y="4572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匹配度是 AI 的评估徽章，线索状态是流程阶段，两者独立。「强匹配自动确认」可选开启（默认人工确认）。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个性化邮件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2075688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0116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遵循公司审批的邮件模板与统一署名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3232" y="2788920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72491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KOL 金标准少样本，个性化开场白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3502152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43814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按线索类型 / 语言（中英）自适应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13232" y="4215384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15137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占位符安全防护，杜绝 [Name] 等泄漏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13232" y="4928616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8646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可选附带产品彩页 PDF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040880" y="1965960"/>
            <a:ext cx="44805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主题：Distribution Partnership – SkyWalker TKA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60920" y="2679192"/>
            <a:ext cx="384048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83464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Dear Dr. [个性化称呼]，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我们注意到贵机构在骨科手术领域的领先实践……（AI 依据公开证据生成的个性化开场）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SkyWalker 为 TKA 提供个性化术前规划与实时精度补偿……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如有兴趣，欢迎回复本邮件，我们将安排专人对接。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5303520"/>
            <a:ext cx="2148840" cy="411480"/>
          </a:xfrm>
          <a:prstGeom prst="roundRect">
            <a:avLst>
              <a:gd name="adj" fmla="val 48889"/>
            </a:avLst>
          </a:prstGeom>
          <a:solidFill>
            <a:srgbClr val="E7F4F1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53035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含产品彩页 PDF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智能回复处理 + AI 自动回信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326880" y="914400"/>
            <a:ext cx="1005840" cy="502920"/>
          </a:xfrm>
          <a:prstGeom prst="roundRect">
            <a:avLst>
              <a:gd name="adj" fmla="val 49091"/>
            </a:avLst>
          </a:prstGeom>
          <a:solidFill>
            <a:srgbClr val="E0A10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0" y="914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4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收件箱同步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54680" y="1965960"/>
            <a:ext cx="28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38144" y="19659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4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意向分类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52744" y="1965960"/>
            <a:ext cx="28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36208" y="19659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43A6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自动回信草稿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50808" y="1965960"/>
            <a:ext cx="283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34272" y="19659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272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人工确认发送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291840"/>
            <a:ext cx="5257800" cy="1600200"/>
          </a:xfrm>
          <a:prstGeom prst="roundRect">
            <a:avLst>
              <a:gd name="adj" fmla="val 6857"/>
            </a:avLst>
          </a:prstGeom>
          <a:solidFill>
            <a:srgbClr val="143A63"/>
          </a:solidFill>
          <a:ln w="19050">
            <a:solidFill>
              <a:srgbClr val="12A5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有意向 → 暖回复草稿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3D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礼貌承接兴趣、自动附产品彩页，并邀请专人对接。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3291840"/>
            <a:ext cx="5257800" cy="1600200"/>
          </a:xfrm>
          <a:prstGeom prst="roundRect">
            <a:avLst>
              <a:gd name="adj" fmla="val 6857"/>
            </a:avLst>
          </a:prstGeom>
          <a:solidFill>
            <a:srgbClr val="143A63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 → 保守占位草稿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29400" y="40233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3DE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 / 合同 / 独家等敏感话题：仅致谢并承诺专人跟进，不做任何承诺。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执行到「草稿」这一步，发送始终由人工确认；草稿在后台异步生成，分类秒回不阻塞。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线索管理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线索全生命周期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9AA7B2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926080" y="21488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86200" y="214884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86200" y="21488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89320" y="21488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949440" y="214884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3B6FB0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21488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已邮件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01000" y="3017520"/>
            <a:ext cx="-6103620" cy="731520"/>
          </a:xfrm>
          <a:prstGeom prst="line">
            <a:avLst/>
          </a:prstGeom>
          <a:noFill/>
          <a:ln w="15875">
            <a:solidFill>
              <a:srgbClr val="D8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3017520"/>
            <a:ext cx="-3305556" cy="731520"/>
          </a:xfrm>
          <a:prstGeom prst="line">
            <a:avLst/>
          </a:prstGeom>
          <a:noFill/>
          <a:ln w="15875">
            <a:solidFill>
              <a:srgbClr val="D8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3017520"/>
            <a:ext cx="-507492" cy="731520"/>
          </a:xfrm>
          <a:prstGeom prst="line">
            <a:avLst/>
          </a:prstGeom>
          <a:noFill/>
          <a:ln w="15875">
            <a:solidFill>
              <a:srgbClr val="D8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3017520"/>
            <a:ext cx="2290572" cy="731520"/>
          </a:xfrm>
          <a:prstGeom prst="line">
            <a:avLst/>
          </a:prstGeom>
          <a:noFill/>
          <a:ln w="15875">
            <a:solidFill>
              <a:srgbClr val="D8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49040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12A594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49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有兴趣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38144" y="3749040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38144" y="3749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6208" y="3749040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E0A100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3749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待复核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34272" y="3749040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C0504D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34272" y="3749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已拒绝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29400" y="320040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200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收到回复 · AI 分析意向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5303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要点：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37360" y="5230368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「已邮件」表示真正送达；确认 / 激活等由人工触发；退订 / 退信 → 自动拒绝并加入抑制名单；有回复即停止自动跟进。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企业级保障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 · 安全 · 可控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A59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8541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退订 / 退信抑制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自动识别退订与退信，加入抑制名单，永不重复发送。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62272" y="1874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A594"/>
          </a:solidFill>
          <a:ln/>
        </p:spPr>
      </p:sp>
      <p:sp>
        <p:nvSpPr>
          <p:cNvPr id="11" name="Text 9"/>
          <p:cNvSpPr/>
          <p:nvPr/>
        </p:nvSpPr>
        <p:spPr>
          <a:xfrm>
            <a:off x="478231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22392" y="218541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发送节流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82312" y="2743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日发送上限、最小间隔、单域名限额，规避反垃圾风控。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84464" y="1874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04504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A594"/>
          </a:solidFill>
          <a:ln/>
        </p:spPr>
      </p:sp>
      <p:sp>
        <p:nvSpPr>
          <p:cNvPr id="16" name="Text 14"/>
          <p:cNvSpPr/>
          <p:nvPr/>
        </p:nvSpPr>
        <p:spPr>
          <a:xfrm>
            <a:off x="860450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44584" y="218541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全量审计日志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04504" y="2743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关键操作可追溯：谁、何时、做了什么。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4069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A594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05993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617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基于角色的操作授权，职责分离。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62272" y="37490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4069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A594"/>
          </a:solidFill>
          <a:ln/>
        </p:spPr>
      </p:sp>
      <p:sp>
        <p:nvSpPr>
          <p:cNvPr id="26" name="Text 24"/>
          <p:cNvSpPr/>
          <p:nvPr/>
        </p:nvSpPr>
        <p:spPr>
          <a:xfrm>
            <a:off x="4782312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22392" y="405993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82312" y="4617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数据留在企业内网，适配网络受限环境。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84464" y="37490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04504" y="4069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A594"/>
          </a:solidFill>
          <a:ln/>
        </p:spPr>
      </p:sp>
      <p:sp>
        <p:nvSpPr>
          <p:cNvPr id="31" name="Text 29"/>
          <p:cNvSpPr/>
          <p:nvPr/>
        </p:nvSpPr>
        <p:spPr>
          <a:xfrm>
            <a:off x="8604504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244584" y="405993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人工把关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04504" y="4617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确认、发送等关键动作始终由人决定。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现代化技术栈，私有化部署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315200" cy="1051560"/>
          </a:xfrm>
          <a:prstGeom prst="roundRect">
            <a:avLst>
              <a:gd name="adj" fmla="val 10435"/>
            </a:avLst>
          </a:prstGeom>
          <a:solidFill>
            <a:srgbClr val="E7F4F1"/>
          </a:solidFill>
          <a:ln w="12700">
            <a:solidFill>
              <a:srgbClr val="12A594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0" y="196596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单页应用 · 现代化操作界面 + 对话式 Agent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7315200" cy="1051560"/>
          </a:xfrm>
          <a:prstGeom prst="roundRect">
            <a:avLst>
              <a:gd name="adj" fmla="val 10435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15468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0" y="315468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· 业务编排、评分、邮件与回复处理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7315200" cy="1051560"/>
          </a:xfrm>
          <a:prstGeom prst="roundRect">
            <a:avLst>
              <a:gd name="adj" fmla="val 10435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3434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434340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· 线索、外联、回复、审计统一存储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2104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6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外部服务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21945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49640" y="23225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Tavily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267004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+ 网页抓取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32461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49640" y="33741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49640" y="372160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大模型：评分 / 邮件 / 回复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429768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49640" y="44256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Exchange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477316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邮件收发 (EWS)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80644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143A6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一键部署 · 数据不出内网 · 适配网络受限环境 · Node 智能体（Pi）支持对话式操作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为什么选择这套系统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自动发现 + 个性化触达，把人从重复检索与写信中解放出来。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47872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47872" y="210312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12A594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210312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822192" y="333756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评分 + 噪声/竞品过滤，让触达集中在高价值线索。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55664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55664" y="210312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3B6FB0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210312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9984" y="333756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抑制、节流、审计内建，海外邮件触达稳健合规。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63456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2F6F9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63456" y="2103120"/>
            <a:ext cx="2606040" cy="960120"/>
          </a:xfrm>
          <a:prstGeom prst="roundRect">
            <a:avLst>
              <a:gd name="adj" fmla="val 11429"/>
            </a:avLst>
          </a:prstGeom>
          <a:solidFill>
            <a:srgbClr val="143A63"/>
          </a:solidFill>
          <a:ln/>
        </p:spPr>
      </p:sp>
      <p:sp>
        <p:nvSpPr>
          <p:cNvPr id="18" name="Text 16"/>
          <p:cNvSpPr/>
          <p:nvPr/>
        </p:nvSpPr>
        <p:spPr>
          <a:xfrm>
            <a:off x="9363456" y="210312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37776" y="333756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关键动作人工把关，AI 是助手不是黑箱。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生产级系统，面向公司实际业务使用 —— 不是演示原型。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206240" cy="42062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3566160"/>
            <a:ext cx="3108960" cy="3108960"/>
          </a:xfrm>
          <a:prstGeom prst="ellipse">
            <a:avLst/>
          </a:prstGeom>
          <a:solidFill>
            <a:srgbClr val="12A594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57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41248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让海外拓客更智能、更精准、更可控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3977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微创畅行 海外渠道拓展系统 · MEDBOT SkyWalker TKA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4937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 / 咨询：__________________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微创畅行海外渠道拓展系统</dc:title>
  <dc:subject>PptxGenJS Presentation</dc:subject>
  <dc:creator>MicroPort</dc:creator>
  <cp:lastModifiedBy>MicroPort</cp:lastModifiedBy>
  <cp:revision>1</cp:revision>
  <dcterms:created xsi:type="dcterms:W3CDTF">2026-07-14T07:11:34Z</dcterms:created>
  <dcterms:modified xsi:type="dcterms:W3CDTF">2026-07-14T07:11:34Z</dcterms:modified>
</cp:coreProperties>
</file>